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41148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0" y="1463040"/>
            <a:ext cx="6217920" cy="10972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Arial"/>
              </a:rPr>
              <a:t>LUSONG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2468880"/>
            <a:ext cx="6217920" cy="12801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EAF2FF"/>
                </a:solidFill>
                <a:latin typeface="Arial"/>
              </a:rPr>
              <a:t>Post-flood leptospirosis early warning and prophylaxis dispatch for every barangay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3749039"/>
            <a:ext cx="621792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8A3D"/>
                </a:solidFill>
                <a:latin typeface="Arial"/>
              </a:rPr>
              <a:t>“Lumusong ka man, may bantay.”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4572000"/>
            <a:ext cx="6217920" cy="1463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C9D8F0"/>
                </a:solidFill>
                <a:latin typeface="Arial"/>
              </a:rPr>
              <a:t>Team TeamLusong  |  PHINMA Araullo University, Cabanatuan City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C9D8F0"/>
                </a:solidFill>
                <a:latin typeface="Arial"/>
              </a:rPr>
              <a:t>Philippine Startup Challenge XI (2026)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C9D8F0"/>
                </a:solidFill>
                <a:latin typeface="Arial"/>
              </a:rPr>
              <a:t>Initial Presentation Deck  |  Sector: Health  |  Technology: AI / SaaS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241280" cy="7315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Problem Description</a:t>
            </a:r>
          </a:p>
        </p:txBody>
      </p:sp>
      <p:pic>
        <p:nvPicPr>
          <p:cNvPr id="4" name="Picture 3" descr="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155448"/>
            <a:ext cx="731520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B7F"/>
                </a:solidFill>
                <a:latin typeface="Arial"/>
              </a:rPr>
              <a:t>After every flood, a preventable epidemic follows two to four weeks later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822960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B7F"/>
                </a:solidFill>
                <a:latin typeface="Arial"/>
              </a:rPr>
              <a:t>LUSONG  |  TeamLusong  |  Philippine Startup Challenge XI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37960"/>
            <a:ext cx="109728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B7F"/>
                </a:solidFill>
                <a:latin typeface="Arial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274320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256032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26B21"/>
                </a:solidFill>
                <a:latin typeface="Arial"/>
              </a:rPr>
              <a:t>~12,000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14600"/>
            <a:ext cx="256032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B6B7F"/>
                </a:solidFill>
                <a:latin typeface="Arial"/>
              </a:rPr>
              <a:t>leptospirosis cases in 2026 by Oct 1, 46% above 2025 [6]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1737360"/>
            <a:ext cx="274320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1828800"/>
            <a:ext cx="256032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26B21"/>
                </a:solidFill>
                <a:latin typeface="Arial"/>
              </a:rPr>
              <a:t>4,859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514600"/>
            <a:ext cx="256032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B6B7F"/>
                </a:solidFill>
                <a:latin typeface="Arial"/>
              </a:rPr>
              <a:t>cases in just 13 weeks of the 2025 rainy season (Jun 8 to Sep 4) [5]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737360"/>
            <a:ext cx="274320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828800"/>
            <a:ext cx="256032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3D91"/>
                </a:solidFill>
                <a:latin typeface="Arial"/>
              </a:rPr>
              <a:t>3.6 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514600"/>
            <a:ext cx="256032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B6B7F"/>
                </a:solidFill>
                <a:latin typeface="Arial"/>
              </a:rPr>
              <a:t>people in 9,643 barangays affected by Typhoon Uwan alone, Nov 2025 [2]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40" y="1737360"/>
            <a:ext cx="251460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1828800"/>
            <a:ext cx="233172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3D91"/>
                </a:solidFill>
                <a:latin typeface="Arial"/>
              </a:rPr>
              <a:t>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514600"/>
            <a:ext cx="233172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B6B7F"/>
                </a:solidFill>
                <a:latin typeface="Arial"/>
              </a:rPr>
              <a:t>of health facilities had internet connectivity in 2024 [12]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474720"/>
            <a:ext cx="11247120" cy="2926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 Leptospirosis is caught by wading through floodwater contaminated by rat urine. Severe cases need dialysis; deaths cluster among working-age adults who waded to work, clear drains, or rescue neighbors.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 Prevention exists and is cheap: DOH recommends doxycycline post-exposure prophylaxis for people who waded, most effective within 24 to 72 hours.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 The gap: nobody knows, in time, which households waded. Warnings are generic, prophylaxis arrives late, and surveillance counts cases only after they reach hospitals (CDC EID, Mar 2026; PMC 2025) [7][8].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 The frontline is thin and offline: 21.2 health workers per 10,000 vs WHO 44.5; 26,504 barangay health stations for 42,026 barangays [9][11].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241280" cy="7315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Why Existing Tools Do Not Solve It</a:t>
            </a:r>
          </a:p>
        </p:txBody>
      </p:sp>
      <p:pic>
        <p:nvPicPr>
          <p:cNvPr id="4" name="Picture 3" descr="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155448"/>
            <a:ext cx="731520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B7F"/>
                </a:solidFill>
                <a:latin typeface="Arial"/>
              </a:rPr>
              <a:t>Hazard platforms are excellent; the post-flood health response layer is empty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822960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B7F"/>
                </a:solidFill>
                <a:latin typeface="Arial"/>
              </a:rPr>
              <a:t>LUSONG  |  TeamLusong  |  Philippine Startup Challenge XI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37960"/>
            <a:ext cx="109728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B7F"/>
                </a:solidFill>
                <a:latin typeface="Arial"/>
              </a:rPr>
              <a:t>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3736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1737360"/>
                <a:gridCol w="1737360"/>
                <a:gridCol w="1280160"/>
                <a:gridCol w="1280160"/>
                <a:gridCol w="1280160"/>
                <a:gridCol w="109728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Capability</a:t>
                      </a:r>
                    </a:p>
                  </a:txBody>
                  <a:tcPr marL="73152" marR="73152" marT="36576" marB="36576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HazardHunterPH / GeoRiskPH</a:t>
                      </a:r>
                    </a:p>
                  </a:txBody>
                  <a:tcPr marL="73152" marR="73152" marT="36576" marB="36576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PAGASA + Google flood forecasts</a:t>
                      </a:r>
                    </a:p>
                  </a:txBody>
                  <a:tcPr marL="73152" marR="73152" marT="36576" marB="36576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DOH advisories</a:t>
                      </a:r>
                    </a:p>
                  </a:txBody>
                  <a:tcPr marL="73152" marR="73152" marT="36576" marB="36576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BIMS / eLGU</a:t>
                      </a:r>
                    </a:p>
                  </a:txBody>
                  <a:tcPr marL="73152" marR="73152" marT="36576" marB="36576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Telemedicine apps</a:t>
                      </a:r>
                    </a:p>
                  </a:txBody>
                  <a:tcPr marL="73152" marR="73152" marT="36576" marB="36576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LUSONG</a:t>
                      </a:r>
                    </a:p>
                  </a:txBody>
                  <a:tcPr marL="73152" marR="73152" marT="36576" marB="36576">
                    <a:solidFill>
                      <a:srgbClr val="0B3D9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Pre-event hazard maps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Uses them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Finds exposed households after a flood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Targets prophylaxis within 72 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Generic text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BHW house-to-house workflow, offline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Records only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Symptom screening and referral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Online, urban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Yes, offline, rural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Measures outcome per barangay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5120640"/>
            <a:ext cx="11247120" cy="1188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0B3D91"/>
                </a:solidFill>
                <a:latin typeface="Arial"/>
              </a:rPr>
              <a:t>DILG mandated the Barangay Information Management System (BIMS) for all barangays in Dec 2025, with 25,000+ barangays oriented by mid-2026 [15]. Household-level data now exists almost everywhere. Nobody has used it for post-flood health response yet.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241280" cy="7315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Sustainable Development Goal (SDG) Priority</a:t>
            </a:r>
          </a:p>
        </p:txBody>
      </p:sp>
      <p:pic>
        <p:nvPicPr>
          <p:cNvPr id="4" name="Picture 3" descr="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155448"/>
            <a:ext cx="731520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B7F"/>
                </a:solidFill>
                <a:latin typeface="Arial"/>
              </a:rPr>
              <a:t>Primary: SDG 3 Good Health and Well-being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822960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B7F"/>
                </a:solidFill>
                <a:latin typeface="Arial"/>
              </a:rPr>
              <a:t>LUSONG  |  TeamLusong  |  Philippine Startup Challenge XI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37960"/>
            <a:ext cx="109728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B7F"/>
                </a:solidFill>
                <a:latin typeface="Arial"/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5486400" cy="4480560"/>
          </a:xfrm>
          <a:prstGeom prst="rect">
            <a:avLst/>
          </a:prstGeom>
          <a:solidFill>
            <a:srgbClr val="4C9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5120640" cy="42976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SDG 3  Good Health and Well-being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Target 3.3: end the epidemics of water-borne and other communicable diseases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Target 3.d: strengthen capacity for early warning, risk reduction and management of national and global health risks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4864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3D91"/>
                </a:solidFill>
                <a:latin typeface="Arial"/>
              </a:rPr>
              <a:t>Secondary SDGs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286000"/>
            <a:ext cx="5486400" cy="39319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 SDG 11.5: reduce deaths and the number of people affected by disasters, including water-related disasters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 SDG 13.1: strengthen resilience and adaptive capacity to climate-related hazards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 SDG 6.2: sanitation, through hotspot mapping of flood and waste exposure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 Alignment: Universal Health Care Act (interoperable records by 2028), RA 10121 (70% of LDRRMF for prevention and preparedness), ASEAN 2026 theme “Navigating Our Future, Together” (digital public goods, climate resilience)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241280" cy="7315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Target Market Segment</a:t>
            </a:r>
          </a:p>
        </p:txBody>
      </p:sp>
      <p:pic>
        <p:nvPicPr>
          <p:cNvPr id="4" name="Picture 3" descr="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155448"/>
            <a:ext cx="731520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B7F"/>
                </a:solidFill>
                <a:latin typeface="Arial"/>
              </a:rPr>
              <a:t>Beneficiaries, users and the customers who pay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822960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B7F"/>
                </a:solidFill>
                <a:latin typeface="Arial"/>
              </a:rPr>
              <a:t>LUSONG  |  TeamLusong  |  Philippine Startup Challenge XI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37960"/>
            <a:ext cx="109728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B7F"/>
                </a:solidFill>
                <a:latin typeface="Arial"/>
              </a:rPr>
              <a:t>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3736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931920"/>
                <a:gridCol w="3566160"/>
                <a:gridCol w="2103120"/>
              </a:tblGrid>
              <a:tr h="7315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Segment</a:t>
                      </a:r>
                    </a:p>
                  </a:txBody>
                  <a:tcPr marL="73152" marR="73152" marT="36576" marB="36576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Who</a:t>
                      </a:r>
                    </a:p>
                  </a:txBody>
                  <a:tcPr marL="73152" marR="73152" marT="36576" marB="36576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Size</a:t>
                      </a:r>
                    </a:p>
                  </a:txBody>
                  <a:tcPr marL="73152" marR="73152" marT="36576" marB="36576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Role</a:t>
                      </a:r>
                    </a:p>
                  </a:txBody>
                  <a:tcPr marL="73152" marR="73152" marT="36576" marB="36576">
                    <a:solidFill>
                      <a:srgbClr val="0B3D9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Beneficiaries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Residents of flood-prone barangays; working-age adults who wade most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8.2 M people affected by floods and cyclones in 2025; 9,643 barangays hit by Uwan alone [2][3]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Receive advisories and prophylaxis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Primary users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Barangay Health Workers, RHU nurses and physicians, MDRRMO officers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42,026 barangays; 26,504 barangay health stations [11]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Run the house-to-house response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Paying customers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City and municipal governments (LDRRMF prevention funds, health budget)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About 1,640 LGUs; est. 600 municipalities + 60 cities with recurring floods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Annual subscription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Early adopters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Marikina, Malabon, Navotas, Calumpit, Hagonoy, Cabanatuan, Dagupan, Naga, Ormoc, Cotabato City, Davao riverside districts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Active MDRRMO, BIMS-oriented barangays, eLGU accounts (41 cities, 901 municipalities) [15]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Pilot and reference customers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241280" cy="7315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Solution</a:t>
            </a:r>
          </a:p>
        </p:txBody>
      </p:sp>
      <p:pic>
        <p:nvPicPr>
          <p:cNvPr id="4" name="Picture 3" descr="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155448"/>
            <a:ext cx="731520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B7F"/>
                </a:solidFill>
                <a:latin typeface="Arial"/>
              </a:rPr>
              <a:t>LUSONG turns a flood event into a barangay-level health action list within hours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822960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B7F"/>
                </a:solidFill>
                <a:latin typeface="Arial"/>
              </a:rPr>
              <a:t>LUSONG  |  TeamLusong  |  Philippine Startup Challenge XI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37960"/>
            <a:ext cx="109728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B7F"/>
                </a:solidFill>
                <a:latin typeface="Arial"/>
              </a:rP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361188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737360"/>
            <a:ext cx="3611880" cy="109728"/>
          </a:xfrm>
          <a:prstGeom prst="rect">
            <a:avLst/>
          </a:prstGeom>
          <a:solidFill>
            <a:srgbClr val="F26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920240"/>
            <a:ext cx="333756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B3D91"/>
                </a:solidFill>
                <a:latin typeface="Arial"/>
              </a:rPr>
              <a:t>LUSONG Command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377440"/>
            <a:ext cx="333756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B6B7F"/>
                </a:solidFill>
                <a:latin typeface="Arial"/>
              </a:rPr>
              <a:t>LGU and RHU web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834640"/>
            <a:ext cx="3337560" cy="32918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Exposure engine fuses rainfall, flood depth maps, elevation, and BIMS household locations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Ranks barangays by expected cases (AI model trained on past rainfall, flood extent and DOH weekly case data)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Doxycycline need vs stock per barangay health station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1737360"/>
            <a:ext cx="361188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1737360"/>
            <a:ext cx="3611880" cy="109728"/>
          </a:xfrm>
          <a:prstGeom prst="rect">
            <a:avLst/>
          </a:prstGeom>
          <a:solidFill>
            <a:srgbClr val="F26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920240"/>
            <a:ext cx="333756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B3D91"/>
                </a:solidFill>
                <a:latin typeface="Arial"/>
              </a:rPr>
              <a:t>LUSONG Bantay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377440"/>
            <a:ext cx="333756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B6B7F"/>
                </a:solidFill>
                <a:latin typeface="Arial"/>
              </a:rPr>
              <a:t>Offline-first BHW mobile 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834640"/>
            <a:ext cx="3337560" cy="32918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Prioritized house-to-house list per purok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3-question Filipino symptom screen (fever, calf pain, red eyes or jaundice)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Prophylaxis log and one-tap RHU referral; syncs when signal returns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1737360"/>
            <a:ext cx="361188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1737360"/>
            <a:ext cx="3611880" cy="109728"/>
          </a:xfrm>
          <a:prstGeom prst="rect">
            <a:avLst/>
          </a:prstGeom>
          <a:solidFill>
            <a:srgbClr val="F26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80" y="1920240"/>
            <a:ext cx="333756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B3D91"/>
                </a:solidFill>
                <a:latin typeface="Arial"/>
              </a:rPr>
              <a:t>LUSONG Abiso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2377440"/>
            <a:ext cx="333756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B6B7F"/>
                </a:solidFill>
                <a:latin typeface="Arial"/>
              </a:rPr>
              <a:t>Resident messaging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2834640"/>
            <a:ext cx="3337560" cy="32918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Targeted SMS in Filipino and regional languages within hours of a flood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Residents reply 1 or 2 to self-report wading and symptoms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Messenger and eGovPH channels next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241280" cy="7315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How It Works</a:t>
            </a:r>
          </a:p>
        </p:txBody>
      </p:sp>
      <p:pic>
        <p:nvPicPr>
          <p:cNvPr id="4" name="Picture 3" descr="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155448"/>
            <a:ext cx="731520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B7F"/>
                </a:solidFill>
                <a:latin typeface="Arial"/>
              </a:rPr>
              <a:t>No hardware required; built on data the government already publishes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822960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B7F"/>
                </a:solidFill>
                <a:latin typeface="Arial"/>
              </a:rPr>
              <a:t>LUSONG  |  TeamLusong  |  Philippine Startup Challenge XI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37960"/>
            <a:ext cx="109728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B7F"/>
                </a:solidFill>
                <a:latin typeface="Arial"/>
              </a:rPr>
              <a:t>7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3611880" cy="1737360"/>
          </a:xfrm>
          <a:prstGeom prst="rect">
            <a:avLst/>
          </a:prstGeom>
          <a:solidFill>
            <a:srgbClr val="EAF2FF"/>
          </a:solidFill>
          <a:ln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874519"/>
            <a:ext cx="333756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3D91"/>
                </a:solidFill>
                <a:latin typeface="Arial"/>
              </a:rPr>
              <a:t>1. Trigger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377439"/>
            <a:ext cx="3337560" cy="10058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PAGASA rainfall, flood forecast, or MDRRMO report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1737360"/>
            <a:ext cx="361188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874519"/>
            <a:ext cx="333756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3D91"/>
                </a:solidFill>
                <a:latin typeface="Arial"/>
              </a:rPr>
              <a:t>2. Exposure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77439"/>
            <a:ext cx="3337560" cy="10058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Spatial join of flood layers with BIMS households (PostGIS)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737360"/>
            <a:ext cx="3611880" cy="1737360"/>
          </a:xfrm>
          <a:prstGeom prst="rect">
            <a:avLst/>
          </a:prstGeom>
          <a:solidFill>
            <a:srgbClr val="EAF2FF"/>
          </a:solidFill>
          <a:ln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1874519"/>
            <a:ext cx="333756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3D91"/>
                </a:solidFill>
                <a:latin typeface="Arial"/>
              </a:rPr>
              <a:t>3. Risk ranking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2377439"/>
            <a:ext cx="3337560" cy="10058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Gradient-boosted model on rainfall, flood extent, past cases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49039"/>
            <a:ext cx="361188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886200"/>
            <a:ext cx="333756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3D91"/>
                </a:solidFill>
                <a:latin typeface="Arial"/>
              </a:rPr>
              <a:t>4. Dispatch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389120"/>
            <a:ext cx="3337560" cy="10058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SMS to households; BHW lists pushed offline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60" y="3749039"/>
            <a:ext cx="3611880" cy="1737360"/>
          </a:xfrm>
          <a:prstGeom prst="rect">
            <a:avLst/>
          </a:prstGeom>
          <a:solidFill>
            <a:srgbClr val="EAF2FF"/>
          </a:solidFill>
          <a:ln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3886200"/>
            <a:ext cx="333756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3D91"/>
                </a:solidFill>
                <a:latin typeface="Arial"/>
              </a:rPr>
              <a:t>5. Response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389120"/>
            <a:ext cx="3337560" cy="10058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Prophylaxis logged, symptoms screened, referrals made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20" y="3749039"/>
            <a:ext cx="361188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3880" y="3886200"/>
            <a:ext cx="333756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3D91"/>
                </a:solidFill>
                <a:latin typeface="Arial"/>
              </a:rPr>
              <a:t>6. Learn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80" y="4389120"/>
            <a:ext cx="3337560" cy="10058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30-day case tracking; reports in DOH FHSIS format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806440"/>
            <a:ext cx="1124712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B6B7F"/>
                </a:solidFill>
                <a:latin typeface="Arial"/>
              </a:rPr>
              <a:t>Stack: Python (FastAPI, XGBoost, GeoPandas), PostgreSQL + PostGIS, React dashboard, progressive web app with IndexedDB offline sync, local SMS gateway, small language model for multilingual advisories with RHU sign-off.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241280" cy="7315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Features</a:t>
            </a:r>
          </a:p>
        </p:txBody>
      </p:sp>
      <p:pic>
        <p:nvPicPr>
          <p:cNvPr id="4" name="Picture 3" descr="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155448"/>
            <a:ext cx="731520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B7F"/>
                </a:solidFill>
                <a:latin typeface="Arial"/>
              </a:rPr>
              <a:t>Must-have features ship in the 8-week MVP; the rest follow after the first 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822960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B7F"/>
                </a:solidFill>
                <a:latin typeface="Arial"/>
              </a:rPr>
              <a:t>LUSONG  |  TeamLusong  |  Philippine Startup Challenge XI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37960"/>
            <a:ext cx="109728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B7F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4864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3D91"/>
                </a:solidFill>
                <a:latin typeface="Arial"/>
              </a:rPr>
              <a:t>MVP (must have)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94560"/>
            <a:ext cx="5486400" cy="41148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 Barangay map with household exposure scoring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 BIMS or census CSV import (no re-encoding)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 SMS blast with reply capture (1 = waded, 2 = symptoms)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 Offline BHW checklist and symptom screen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 Doxycycline stock vs need panel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 Referral queue for the RHU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 Exportable report in DOH FHSIS format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4864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26B21"/>
                </a:solidFill>
                <a:latin typeface="Arial"/>
              </a:rPr>
              <a:t>Next (after pilot)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194560"/>
            <a:ext cx="5486400" cy="41148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 ML risk ranking trained on DOH weekly surveillance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 Messenger and eGovPH super app channels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 Rain gauge and community sensor ingestion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 Dengue, acute diarrhea and heat-illness modules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 Province and DOH regional dashboards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 GeoRiskPH API integration under MOU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241280" cy="7315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The 75-Second Demo</a:t>
            </a:r>
          </a:p>
        </p:txBody>
      </p:sp>
      <p:pic>
        <p:nvPicPr>
          <p:cNvPr id="4" name="Picture 3" descr="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155448"/>
            <a:ext cx="731520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B7F"/>
                </a:solidFill>
                <a:latin typeface="Arial"/>
              </a:rPr>
              <a:t>What judges will see on stage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822960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B7F"/>
                </a:solidFill>
                <a:latin typeface="Arial"/>
              </a:rPr>
              <a:t>LUSONG  |  TeamLusong  |  Philippine Startup Challenge XI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37960"/>
            <a:ext cx="109728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B7F"/>
                </a:solidFill>
                <a:latin typeface="Arial"/>
              </a:rPr>
              <a:t>9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1737360"/>
            <a:ext cx="548640" cy="548640"/>
          </a:xfrm>
          <a:prstGeom prst="ellipse">
            <a:avLst/>
          </a:prstGeom>
          <a:solidFill>
            <a:srgbClr val="F26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548640" cy="5486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737360"/>
            <a:ext cx="6400800" cy="5486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Pick a barangay; simulate 180 mm rainfall and 0.5 m flood depth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2487168"/>
            <a:ext cx="548640" cy="548640"/>
          </a:xfrm>
          <a:prstGeom prst="ellipse">
            <a:avLst/>
          </a:prstGeom>
          <a:solidFill>
            <a:srgbClr val="F26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487168"/>
            <a:ext cx="548640" cy="5486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487168"/>
            <a:ext cx="6400800" cy="5486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Map turns red: 1,240 exposed households, 2,900 people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3236976"/>
            <a:ext cx="548640" cy="548640"/>
          </a:xfrm>
          <a:prstGeom prst="ellipse">
            <a:avLst/>
          </a:prstGeom>
          <a:solidFill>
            <a:srgbClr val="F26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236976"/>
            <a:ext cx="548640" cy="5486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236976"/>
            <a:ext cx="6400800" cy="5486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Doxycycline need 2,900 doses vs 400 in stock; reorder suggested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3986783"/>
            <a:ext cx="548640" cy="548640"/>
          </a:xfrm>
          <a:prstGeom prst="ellipse">
            <a:avLst/>
          </a:prstGeom>
          <a:solidFill>
            <a:srgbClr val="F26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986783"/>
            <a:ext cx="548640" cy="5486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986783"/>
            <a:ext cx="6400800" cy="5486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One tap: the judge's phone receives the Tagalog SMS</a:t>
            </a:r>
          </a:p>
        </p:txBody>
      </p:sp>
      <p:sp>
        <p:nvSpPr>
          <p:cNvPr id="21" name="Oval 20"/>
          <p:cNvSpPr/>
          <p:nvPr/>
        </p:nvSpPr>
        <p:spPr>
          <a:xfrm>
            <a:off x="457200" y="4736592"/>
            <a:ext cx="548640" cy="548640"/>
          </a:xfrm>
          <a:prstGeom prst="ellipse">
            <a:avLst/>
          </a:prstGeom>
          <a:solidFill>
            <a:srgbClr val="F26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736592"/>
            <a:ext cx="548640" cy="5486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736592"/>
            <a:ext cx="6400800" cy="5486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BHW tablet, offline, shows the house-to-house list</a:t>
            </a:r>
          </a:p>
        </p:txBody>
      </p:sp>
      <p:sp>
        <p:nvSpPr>
          <p:cNvPr id="24" name="Oval 23"/>
          <p:cNvSpPr/>
          <p:nvPr/>
        </p:nvSpPr>
        <p:spPr>
          <a:xfrm>
            <a:off x="457200" y="5486400"/>
            <a:ext cx="548640" cy="548640"/>
          </a:xfrm>
          <a:prstGeom prst="ellipse">
            <a:avLst/>
          </a:prstGeom>
          <a:solidFill>
            <a:srgbClr val="F26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486400"/>
            <a:ext cx="548640" cy="5486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5486400"/>
            <a:ext cx="6400800" cy="5486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A symptom report escalates to the RHU referral queue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55279" y="1737360"/>
            <a:ext cx="3794760" cy="44805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0" y="1920240"/>
            <a:ext cx="3474720" cy="41148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FF8A3D"/>
                </a:solidFill>
                <a:latin typeface="Arial"/>
              </a:rPr>
              <a:t>Sample SMS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LUSONG: Lumusong ka ba sa baha kahapon? Pumunta sa Barangay Health Station para sa libreng doxycycline ngayong araw. Kung may lagnat o sakit ng binti sa susunod na 2 linggo, magpakonsulta agad. Reply 1 kung lumusong, 2 kung may sintomas.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241280" cy="7315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Business Model</a:t>
            </a:r>
          </a:p>
        </p:txBody>
      </p:sp>
      <p:pic>
        <p:nvPicPr>
          <p:cNvPr id="4" name="Picture 3" descr="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155448"/>
            <a:ext cx="731520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B7F"/>
                </a:solidFill>
                <a:latin typeface="Arial"/>
              </a:rPr>
              <a:t>LGUs pay from the prevention share of the Local DRRM Fund; prevention is cheaper than dialysis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822960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B7F"/>
                </a:solidFill>
                <a:latin typeface="Arial"/>
              </a:rPr>
              <a:t>LUSONG  |  TeamLusong  |  Philippine Startup Challenge XI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37960"/>
            <a:ext cx="109728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B7F"/>
                </a:solidFill>
                <a:latin typeface="Arial"/>
              </a:rPr>
              <a:t>10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37360"/>
          <a:ext cx="6675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108960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Revenue stream</a:t>
                      </a:r>
                    </a:p>
                  </a:txBody>
                  <a:tcPr marL="73152" marR="73152" marT="36576" marB="36576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Price (PHP, to be validated)</a:t>
                      </a:r>
                    </a:p>
                  </a:txBody>
                  <a:tcPr marL="73152" marR="73152" marT="36576" marB="36576">
                    <a:solidFill>
                      <a:srgbClr val="0B3D9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Municipal subscription (up to 30 barangays)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60,000 per year + 1,500 per extra barangay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Component city subscription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150,000 to 300,000 per year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Implementation and BHW training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25,000 one-time per LGU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SMS credits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Cost plus 20%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Province or DOH regional license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Volume pricing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Future: anonymized outbreak analytics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Insurers, pharma distributors (DPA-compliant)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406640" y="1737360"/>
            <a:ext cx="438912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3D91"/>
                </a:solidFill>
                <a:latin typeface="Arial"/>
              </a:rPr>
              <a:t>Unit economics (estimate)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2194560"/>
            <a:ext cx="4389120" cy="41148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Cloud and SMS cost per municipality about PHP 12,000 per year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Onboarding about 3 person-days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Gross margin above 70% after year one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10 LGUs cover the team's operating cost; 50 LGUs fund a full-time team of five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Procurement through LDRRMF prevention allocation (RA 10121) is annual and renewable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One avoided dialysis case costs more than a year of LUSONG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241280" cy="7315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Market Size and Demand</a:t>
            </a:r>
          </a:p>
        </p:txBody>
      </p:sp>
      <p:pic>
        <p:nvPicPr>
          <p:cNvPr id="4" name="Picture 3" descr="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155448"/>
            <a:ext cx="731520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B7F"/>
                </a:solidFill>
                <a:latin typeface="Arial"/>
              </a:rPr>
              <a:t>Philippine LGU market first; exportable to ASEAN neighbors with endemic leptospirosis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822960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B7F"/>
                </a:solidFill>
                <a:latin typeface="Arial"/>
              </a:rPr>
              <a:t>LUSONG  |  TeamLusong  |  Philippine Startup Challenge XI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37960"/>
            <a:ext cx="109728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B7F"/>
                </a:solidFill>
                <a:latin typeface="Arial"/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365760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347472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3D91"/>
                </a:solidFill>
                <a:latin typeface="Arial"/>
              </a:rPr>
              <a:t>PHP 131 M / yr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14600"/>
            <a:ext cx="347472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B6B7F"/>
                </a:solidFill>
                <a:latin typeface="Arial"/>
              </a:rPr>
              <a:t>TAM: about 1,640 cities and municipalities x PHP 80,000 average (estimate); PHP 180 M with province and DOH licenses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1737360"/>
            <a:ext cx="365760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828800"/>
            <a:ext cx="347472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3D91"/>
                </a:solidFill>
                <a:latin typeface="Arial"/>
              </a:rPr>
              <a:t>PHP 48 M / yr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514600"/>
            <a:ext cx="347472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B6B7F"/>
                </a:solidFill>
                <a:latin typeface="Arial"/>
              </a:rPr>
              <a:t>SAM: est. 600 flood-prone municipalities x 60,000 + 60 cities x 200,000 (Uwan alone hit 725 LGUs [2])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737360"/>
            <a:ext cx="370332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1828800"/>
            <a:ext cx="3520439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26B21"/>
                </a:solidFill>
                <a:latin typeface="Arial"/>
              </a:rPr>
              <a:t>PHP 8 M / yr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514600"/>
            <a:ext cx="3520439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B6B7F"/>
                </a:solidFill>
                <a:latin typeface="Arial"/>
              </a:rPr>
              <a:t>SOM in 3 years: 100 LGUs plus SMS and training revenue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474720"/>
            <a:ext cx="11247120" cy="2926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Leptospirosis cases up 46% year on year in 2026 [6]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2026 GAA restored about PHP 129.8 B to PhilHealth; health sector budget PHP 448 B [16]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DILG BIMS mandate (Dec 2025) supplies the household data input; UHC Act pushes LGUs toward interoperable digital health tools by 2028 [12][15]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Philippine ASEAN chairmanship 2026 prioritizes digital public goods and climate resilience; leptospirosis is endemic in Indonesia, Thailand, Malaysia and Vietnam [17]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No Philippine startup or agency product found that targets leptospirosis exposure and prophylaxis logistics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241280" cy="7315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Progress / Traction</a:t>
            </a:r>
          </a:p>
        </p:txBody>
      </p:sp>
      <p:pic>
        <p:nvPicPr>
          <p:cNvPr id="4" name="Picture 3" descr="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155448"/>
            <a:ext cx="731520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B7F"/>
                </a:solidFill>
                <a:latin typeface="Arial"/>
              </a:rPr>
              <a:t>Status as of October 2026: idea stage with a validated problem and a build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822960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B7F"/>
                </a:solidFill>
                <a:latin typeface="Arial"/>
              </a:rPr>
              <a:t>LUSONG  |  TeamLusong  |  Philippine Startup Challenge XI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37960"/>
            <a:ext cx="109728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B7F"/>
                </a:solidFill>
                <a:latin typeface="Arial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4864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3D91"/>
                </a:solidFill>
                <a:latin typeface="Arial"/>
              </a:rPr>
              <a:t>Done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94560"/>
            <a:ext cx="5486400" cy="41148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Problem sized from DOH surveillance, NDRRMC and CDC/PMC literature (2025 to 2026)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Competitive scan: hazard platforms, telemedicine, govtech; no post-flood health response product found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Solution architecture, offline-first BHW workflow and multilingual SMS designed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Exposure engine data sources identified: PAGASA, GeoRiskPH, NAMRIA, BIMS exports, DOH weekly tables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4864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26B21"/>
                </a:solidFill>
                <a:latin typeface="Arial"/>
              </a:rPr>
              <a:t>Next 8 weeks (commitments)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194560"/>
            <a:ext cx="5486400" cy="41148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15 interviews: 5 BHWs, 3 RHU clinicians, 3 MDRRMO officers, 2 barangay captains, 2 patient families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Backtest the exposure engine on two 2024 to 2025 flood events against DOH weekly data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Letter of Intent from one flood-prone LGU; 20 BHWs trained; 1,000 households enrolled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Live pilot in one or two barangays; publish delivery time and reach numbers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241280" cy="7315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Roadmap</a:t>
            </a:r>
          </a:p>
        </p:txBody>
      </p:sp>
      <p:pic>
        <p:nvPicPr>
          <p:cNvPr id="4" name="Picture 3" descr="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155448"/>
            <a:ext cx="731520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B7F"/>
                </a:solidFill>
                <a:latin typeface="Arial"/>
              </a:rPr>
              <a:t>From MVP to ten paying LGUs in twelve months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822960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B7F"/>
                </a:solidFill>
                <a:latin typeface="Arial"/>
              </a:rPr>
              <a:t>LUSONG  |  TeamLusong  |  Philippine Startup Challenge XI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37960"/>
            <a:ext cx="109728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B7F"/>
                </a:solidFill>
                <a:latin typeface="Arial"/>
              </a:rPr>
              <a:t>13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37360"/>
          <a:ext cx="1124712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2377440"/>
                <a:gridCol w="4663440"/>
              </a:tblGrid>
              <a:tr h="56692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Milestone</a:t>
                      </a:r>
                    </a:p>
                  </a:txBody>
                  <a:tcPr marL="73152" marR="73152" marT="36576" marB="36576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Target date</a:t>
                      </a:r>
                    </a:p>
                  </a:txBody>
                  <a:tcPr marL="73152" marR="73152" marT="36576" marB="36576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Measure</a:t>
                      </a:r>
                    </a:p>
                  </a:txBody>
                  <a:tcPr marL="73152" marR="73152" marT="36576" marB="36576">
                    <a:solidFill>
                      <a:srgbClr val="0B3D9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MVP with backtested exposure engine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Regional pitch, Nov 2026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&gt;= 70% recall of barangays with later lepto clusters (estimate)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First LGU LOI or MOA, 20 BHWs trained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Dec 2026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1,000 households enrolled in LUSONG Abiso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Live through one rainy-season flood in 3 LGUs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Jun 2027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&gt;= 60% of exposed households reached within 24 h; prophylaxis offer within 72 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Outcome evaluation vs matched control barangays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Dec 2027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Flood-to-first-dose under 48 h; fewer hospitalized cases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10 paying LGUs, second disease module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Dec 2027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PHP 600,000 annual recurring revenue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241280" cy="7315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Proposed Use of Funds / Asks</a:t>
            </a:r>
          </a:p>
        </p:txBody>
      </p:sp>
      <p:pic>
        <p:nvPicPr>
          <p:cNvPr id="4" name="Picture 3" descr="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155448"/>
            <a:ext cx="731520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B7F"/>
                </a:solidFill>
                <a:latin typeface="Arial"/>
              </a:rPr>
              <a:t>PHP 480,000 for twelve months: MVP completion and pilots in three LGUs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822960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B7F"/>
                </a:solidFill>
                <a:latin typeface="Arial"/>
              </a:rPr>
              <a:t>LUSONG  |  TeamLusong  |  Philippine Startup Challenge XI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37960"/>
            <a:ext cx="109728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B7F"/>
                </a:solidFill>
                <a:latin typeface="Arial"/>
              </a:rPr>
              <a:t>14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37360"/>
          <a:ext cx="66751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6320"/>
                <a:gridCol w="1828800"/>
              </a:tblGrid>
              <a:tr h="42062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73152" marR="73152" marT="36576" marB="36576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PHP</a:t>
                      </a:r>
                    </a:p>
                  </a:txBody>
                  <a:tcPr marL="73152" marR="73152" marT="36576" marB="36576">
                    <a:solidFill>
                      <a:srgbClr val="0B3D9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Cloud, maps and model hosting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60,000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SMS and messaging credits (about 150,000 messages)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90,000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Field validation and pilot travel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80,000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BHW training materials and five shared devices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60,000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Multilingual content and clinical review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40,000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Legal, data privacy and registration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30,000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Student team stipends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80,000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Contingency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40,000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Arial"/>
                        </a:rPr>
                        <a:t>480,000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406640" y="1737360"/>
            <a:ext cx="438912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3D91"/>
                </a:solidFill>
                <a:latin typeface="Arial"/>
              </a:rPr>
              <a:t>Our asks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2194560"/>
            <a:ext cx="4389120" cy="41148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Pilot introductions to two flood-prone LGUs and their municipal health officers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DICT Startup Grant Fund consideration (PHP 500,000 to 1 M) for year-one pilots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DOH Epidemiology Bureau and GeoRiskPH data access under MOU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Mentorship on LGU procurement and Data Privacy Act compliance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Allocation: 44% product and infrastructure, 38% field validation and adoption, 18% compliance and contingency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241280" cy="7315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Team</a:t>
            </a:r>
          </a:p>
        </p:txBody>
      </p:sp>
      <p:pic>
        <p:nvPicPr>
          <p:cNvPr id="4" name="Picture 3" descr="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155448"/>
            <a:ext cx="731520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B7F"/>
                </a:solidFill>
                <a:latin typeface="Arial"/>
              </a:rPr>
              <a:t>PHINMA Araullo University, Cabanatuan City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822960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B6B7F"/>
                </a:solidFill>
                <a:latin typeface="Arial"/>
              </a:rPr>
              <a:t>LUSONG  |  TeamLusong  |  Philippine Startup Challenge XI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37960"/>
            <a:ext cx="109728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B6B7F"/>
                </a:solidFill>
                <a:latin typeface="Arial"/>
              </a:rPr>
              <a:t>15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548640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737360"/>
            <a:ext cx="137160" cy="2011680"/>
          </a:xfrm>
          <a:prstGeom prst="rect">
            <a:avLst/>
          </a:prstGeom>
          <a:solidFill>
            <a:srgbClr val="F26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20240"/>
            <a:ext cx="50292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B3D91"/>
                </a:solidFill>
                <a:latin typeface="Arial"/>
              </a:rPr>
              <a:t>Justine Tabunan (CEO)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514600"/>
            <a:ext cx="5029200" cy="10972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CEO: customer validation, LGU partnerships, pitch, finance. info@astin.ph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737360"/>
            <a:ext cx="548640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737360"/>
            <a:ext cx="137160" cy="2011680"/>
          </a:xfrm>
          <a:prstGeom prst="rect">
            <a:avLst/>
          </a:prstGeom>
          <a:solidFill>
            <a:srgbClr val="F26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920240"/>
            <a:ext cx="50292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B3D91"/>
                </a:solidFill>
                <a:latin typeface="Arial"/>
              </a:rPr>
              <a:t>John Alvin D. Bondoc (CTO)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514600"/>
            <a:ext cx="5029200" cy="10972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CTO: exposure and risk engine, backend, offline PWA. johnalvinbondoc@gmail.com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023360"/>
            <a:ext cx="548640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023360"/>
            <a:ext cx="137160" cy="2011680"/>
          </a:xfrm>
          <a:prstGeom prst="rect">
            <a:avLst/>
          </a:prstGeom>
          <a:solidFill>
            <a:srgbClr val="F26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206240"/>
            <a:ext cx="50292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B3D91"/>
                </a:solidFill>
                <a:latin typeface="Arial"/>
              </a:rPr>
              <a:t>Aurchie Keem N. Rodriguez (CPO/CMO)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800600"/>
            <a:ext cx="5029200" cy="10972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CPO/CMO: BHW experience, multilingual content, training, brand. aurchierodriguez@gmail.com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4023360"/>
            <a:ext cx="548640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4023360"/>
            <a:ext cx="137160" cy="201168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206240"/>
            <a:ext cx="50292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B3D91"/>
                </a:solidFill>
                <a:latin typeface="Arial"/>
              </a:rPr>
              <a:t>Gabriel Nikiloz G. Sioson (CIT Faculty)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800600"/>
            <a:ext cx="5029200" cy="10972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Mentor: technical review, DOH Region III and LGU introductions. ggsioson.au@phinmaed.com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41148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0" y="1828800"/>
            <a:ext cx="6217920" cy="914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8A3D"/>
                </a:solidFill>
                <a:latin typeface="Arial"/>
              </a:rPr>
              <a:t>Lumusong ka man, may bantay.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2926080"/>
            <a:ext cx="6217920" cy="1463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Every flood is followed by a preventable epidemic. LUSONG makes sure the PHP 10 antibiotic reaches the right house in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4572000"/>
            <a:ext cx="6217920" cy="13716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C9D8F0"/>
                </a:solidFill>
                <a:latin typeface="Arial"/>
              </a:rPr>
              <a:t>Team TeamLusong  |  PHINMA Araullo University, Cabanatuan City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C9D8F0"/>
                </a:solidFill>
                <a:latin typeface="Arial"/>
              </a:rPr>
              <a:t>Contact: info@astin.ph / 0965 274 3311 (Justine Tabunan); ggsioson.au@phinmaed.com (mentor)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C9D8F0"/>
                </a:solidFill>
                <a:latin typeface="Arial"/>
              </a:rPr>
              <a:t>Sources: see Concept Note, Section X and reference list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